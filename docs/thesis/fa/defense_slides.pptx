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7373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3B63"/>
                </a:solidFill>
                <a:latin typeface="B Nazanin"/>
              </a:rPr>
              <a:t>بررسی، ارزیابی و تحلیل کاربردهای رویکرد مبتنی بر خوشه‌بندی معنایی</a:t>
            </a:r>
          </a:p>
          <a:p>
            <a:pPr algn="ctr"/>
            <a:r>
              <a:rPr sz="2600" b="0">
                <a:solidFill>
                  <a:srgbClr val="1F3B63"/>
                </a:solidFill>
                <a:latin typeface="B Nazanin"/>
              </a:rPr>
              <a:t>متون چند زبانه جهت پاسخگویی به سوالات در محیط‌های با دامنه بسته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05A2B"/>
                </a:solidFill>
                <a:latin typeface="B Nazanin"/>
              </a:rPr>
              <a:t>وحید مرادی سرکشتی  |  استاد راهنما: دکتر مسعود رهگذر</a:t>
            </a:r>
          </a:p>
          <a:p>
            <a:pPr algn="ctr"/>
            <a:r>
              <a:rPr sz="1800">
                <a:solidFill>
                  <a:srgbClr val="C05A2B"/>
                </a:solidFill>
                <a:latin typeface="B Nazanin"/>
              </a:rPr>
              <a:t>دانشکده مهندسی برق و کامپیوتر، دانشگاه تهران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مسئله و انگیزه پژوهش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پرسش:** بازیابی دقیق پاسخ در حوزه‌های تخصصی (دینی، پزشکی، حقوقی) با منابع محدود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مدل‌های عصبی بزرگ: دقت بالا اما نیازمند GPU، داده عظیم و برچسب‌گذاری گران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الهام از مغز: HTM هاوکینز → بازنمایی پراکنده توزیع‌شده (SDR)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راه حل:** خوشه‌بندی معنایی (Semantic Folding) — نقشه معنایی دوبعدی + اثرانگشت معنایی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ویژگی کلیدی برای متون دینی: استقلال زبانی اثرانگشت‌ها (عربی/انگلیسی هم‌معنا)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نقشه‌راه هشت‌مرحله‌ای (مطابق پروپوزال)</a:t>
            </a:r>
          </a:p>
        </p:txBody>
      </p:sp>
      <p:pic>
        <p:nvPicPr>
          <p:cNvPr id="3" name="Picture 2" descr="fi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607040" cy="43544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C05A2B"/>
                </a:solidFill>
                <a:latin typeface="B Nazanin"/>
              </a:rPr>
              <a:t>مراحل ۱–۶ آفلاین؛ مرحله ۷ آنلاین؛ مرحله ۸ ارزیابی مستقل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معماری پیاده‌سازی‌شده</a:t>
            </a:r>
          </a:p>
        </p:txBody>
      </p:sp>
      <p:pic>
        <p:nvPicPr>
          <p:cNvPr id="3" name="Picture 2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607040" cy="21131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C05A2B"/>
                </a:solidFill>
                <a:latin typeface="B Nazanin"/>
              </a:rPr>
              <a:t>نمایه‌سازی یک‌باره (S1-S5) ← پاسخگویی سریع روی SDR های تنک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هسته روش: ساختار × اهمیت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هم‌رخدادی واژه–مفهوم = ساختار:** کدام سلول‌های نقشه روشن شوند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TF-IDF = اهمیت:** وزن = TF سند × IDF (تغذیه از یک فایل مشترک سند/پرسش)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اثرانگشت سند = Σ (TF×IDF) × اثرانگشت عبارات  →  تنک‌سازی توپولوژی‌محور (10%)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امتیاز: dot(q,d)/(‖q‖·√nnz) + انتشار فعال‌سازی (r=1, decay=0.5)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فیوژن خطی SPLADE: s = α·SF + (1−α)·SPLADE ، α*=0.3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مجموعه‌داده‌های ارزیابی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قرآن کریم:** ۶٬۲۳۶ آیه، ۳۰ پرسش چندمرتبط — کاملاً تخصصی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دوزبانه custom_ar_en / mixed_ar_en:** ۴۸۸ قطعه موازی عربی|انگلیسی، ۴۸۸ پرسش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انگلیسی عمومی:** Belebele، NarrativeQA، PubMedQA، PopQA، MuSiQue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چندزبانه استاندارد:** Mr.TyDi-ar و MIRACL-ar (پروتکل pooled-100)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BEIR:** SciFact، nfcorpus، SciDocs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جایگزین‌های دامنه بسته به‌جای SQuAD/NQ/XQuAD بازدامنه (توجیه در متن)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نتایج اصلی: بهترین SF در برابر BM25</a:t>
            </a:r>
          </a:p>
        </p:txBody>
      </p:sp>
      <p:pic>
        <p:nvPicPr>
          <p:cNvPr id="3" name="Picture 2" descr="fig_results_m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881360" cy="38930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دوزبانه: برتری معنادار آماری (۴۸۸ پرسش)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Pure SF: MRR=0.817 &gt; BM25=0.785   (Wilcoxon p=0.039 ، McNemar p=0.036)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SF+SPLADE Linear α=0.3: MRR=0.825   (p=0.016 / 0.038)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SPLADE تنها: MRR=0.481 — افت سنگین (p&lt;1e-23)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RRF: MRR=0.700 — افت معنادار (p&lt;1e-4)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نتیجه:** توپولوژی معنایی در متون دوزبانه از تطابق واژگانی قوی‌تر است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قرآن کریم: برتری همه‌جانبه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SF+SPLADE RRF در هر ۶ معیار جلوتر از BM25: MRR ×۲.۳۱ ، AP ×۳.۰۲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(MRR 0.358 vs 0.155 | AP 0.218 vs 0.072)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برنده در ۲۱ از ۳۰ پرسش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شکست‌های باقی‌مانده: پرسش‌های موضوعی عام + نبود stemming صرفی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تحلیل پارامتری: سهم اجزا (ablation)</a:t>
            </a:r>
          </a:p>
        </p:txBody>
      </p:sp>
      <p:pic>
        <p:nvPicPr>
          <p:cNvPr id="3" name="Picture 2" descr="fig_ablation_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10332720" cy="40448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C05A2B"/>
                </a:solidFill>
                <a:latin typeface="B Nazanin"/>
              </a:rPr>
              <a:t>انتشار فعال‌سازی، تنک‌سازی متعادل و IDF حیاتی‌اند؛ گرید 64×64 عامل جهش اصلی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فیوژن خطی: حساسیت به وزن SPLADE</a:t>
            </a:r>
          </a:p>
        </p:txBody>
      </p:sp>
      <p:pic>
        <p:nvPicPr>
          <p:cNvPr id="3" name="Picture 2" descr="fig_alph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8778240" cy="4856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C05A2B"/>
                </a:solidFill>
                <a:latin typeface="B Nazanin"/>
              </a:rPr>
              <a:t>بازه بهینه α∈[0.25,0.30]؛ هم‌تراز شدن تقریباً کامل با BM25 روی Belebele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مقایسه با مدل‌های عصبی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SciFact:** SF+SPLADE 0.966 &gt; BM25 0.947 &gt; MiniLM 0.865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E5-multi روی ۸ دیتاست اجرا شد — در ۶ مورد Best-SF جلوتر (جزئیات جدول ۴-۸)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SF بدون هیچ داده آموزش خارج از پیکره، از dense neural هم جلوتر زد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ادبی (SemFold ارشد): BERT دقیق‌تر اما ~۲۰ برابر کندتر؛ SemFold هم‌سطح GloVe/FastText</a:t>
            </a:r>
          </a:p>
          <a:p>
            <a:pPr algn="r"/>
            <a:r>
              <a:rPr sz="1800">
                <a:solidFill>
                  <a:srgbClr val="1F3B63"/>
                </a:solidFill>
                <a:latin typeface="B Nazanin"/>
              </a:rPr>
              <a:t>• SPLADE خود یک مدل عصبی است: هم خط مبنا، هم مؤلفه فیوژن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بنچمارک‌های چندزبانه استاندارد عربی (TyDi / MIRACL)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پروتکل pooled-100: هر پرسش = سند مرتبط رسمی + ۹۹ نگتیو از کورپوس کامل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TyDi-ar: SF=0.544 | BM25=0.881 | E5-multi=0.989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MIRACL-ar: SF=0.542 | BM25=0.815 | E5=0.860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تفسیر صادقانه:** در ویکی‌پدیا بازدامنه، تراکمی چندزبانه غالب است؛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نقطه قوت SF در دامنه بسته تخصصی (قرآن/دوزبانه دینی/SciFact) تأیید مجدد شد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آزمایش شبکه واژگان (WordNet): دو نسل، دو درس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v1 جانشینی سطح-متن (γ=1):** افت معنادار MRR (p=0.024)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علت: بیشترِ «OOV» فقط صورت جمع بود (borders→border) که لم‌سازی داخلی هندل می‌کرد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v2 ادغام سطح-اثرانگشت (γ≤0.3) پس از لم‌سازی:** بی‌ضرر (p=0.53)، OOV حقیقی فقط ۱۴۹ پرسش</a:t>
            </a:r>
          </a:p>
          <a:p>
            <a:pPr algn="r"/>
            <a:r>
              <a:rPr sz="1700">
                <a:solidFill>
                  <a:srgbClr val="1F3B63"/>
                </a:solidFill>
                <a:latin typeface="B Nazanin"/>
              </a:rPr>
              <a:t>• درس طراحی: ادغام میرا در سطح اثرانگشت؛ سود اصلی در پیکره‌های با OOV واقعی بالا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مرزها و شکست‌ها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cross-lingual محض بدون پل واژگانی: MRR=0.02 → راهکار: پیکره موازی دوزبانه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multi-hop (MuSiQue): نیاز به سازوکار استدلال — کار آینده GAT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PopQA موجودیت‌محور: BM25 قوی‌تر می‌ماند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جهش اعداد انگلیسی تا حد زیادی از بزرگ‌شدن pool کاندید (top_k→100)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جمع‌بندی دستاوردها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خط لوله بازتولیدپذیر + چارچوب بنچمارک ۱۴ مجموعه‌داده‌ای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MRR=1.000 در Belebele و NarrativeQA؛ برتری معنادار دوزبانه؛ قرآن ×۲–۳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جدول ablation + آزمون‌های Wilcoxon/McNemar + تحلیل شکست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تعیین مرز طراحی شبکه واژگان با دو آزمایش کنترل‌شده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1F3B63"/>
                </a:solidFill>
                <a:latin typeface="B Nazanin"/>
              </a:rPr>
              <a:t>کارهای آینده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گراف توجه (GAT) برای استدلال چند-hop و گراف دانش خودکار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شبکه واژگان بین‌زبانی (BabelNet) برای cross-lingual واقعی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ریشه‌یابی عربی/انگلیسی؛ ارتباط معیاری؛ به‌روزرسانی پویا نقشه</a:t>
            </a:r>
          </a:p>
          <a:p>
            <a:pPr algn="r"/>
            <a:r>
              <a:rPr sz="1900">
                <a:solidFill>
                  <a:srgbClr val="1F3B63"/>
                </a:solidFill>
                <a:latin typeface="B Nazanin"/>
              </a:rPr>
              <a:t>• گسترش مقایسه تراکمی به مدل‌های بزرگ‌تر (E5/mpnet)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F3B63"/>
                </a:solidFill>
                <a:latin typeface="B Nazanin"/>
              </a:rPr>
              <a:t>با سپاس از توجه شما  —  پرسش‌ها؟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